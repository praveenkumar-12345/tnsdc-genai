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7" r:id="rId7"/>
    <p:sldId id="261" r:id="rId8"/>
    <p:sldId id="262" r:id="rId9"/>
    <p:sldId id="268" r:id="rId10"/>
    <p:sldId id="263" r:id="rId11"/>
    <p:sldId id="269" r:id="rId12"/>
    <p:sldId id="264" r:id="rId13"/>
    <p:sldId id="270" r:id="rId14"/>
    <p:sldId id="265"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874"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302F220-DB76-47B2-858A-DC5660C7A860}" type="datetimeFigureOut">
              <a:rPr lang="en-IN" smtClean="0"/>
              <a:t>22-04-2024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5A0ECA2-7177-4185-8D63-46B6D95B3255}" type="slidenum">
              <a:rPr lang="en-IN" smtClean="0"/>
              <a:t>‹#›</a:t>
            </a:fld>
            <a:endParaRPr lang="en-IN"/>
          </a:p>
        </p:txBody>
      </p:sp>
    </p:spTree>
    <p:extLst>
      <p:ext uri="{BB962C8B-B14F-4D97-AF65-F5344CB8AC3E}">
        <p14:creationId xmlns:p14="http://schemas.microsoft.com/office/powerpoint/2010/main" val="1094179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39775" y="291147"/>
            <a:ext cx="3304540"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4/22/2024</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4/22/2024</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4/22/2024</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558165" y="385444"/>
            <a:ext cx="9764395" cy="1122362"/>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4/22/2024</a:t>
            </a:fld>
            <a:endParaRPr lang="en-US"/>
          </a:p>
        </p:txBody>
      </p:sp>
      <p:sp>
        <p:nvSpPr>
          <p:cNvPr id="6" name="Holder 6"/>
          <p:cNvSpPr>
            <a:spLocks noGrp="1"/>
          </p:cNvSpPr>
          <p:nvPr>
            <p:ph type="sldNum" sz="quarter" idx="7"/>
          </p:nvPr>
        </p:nvSpPr>
        <p:spPr>
          <a:xfrm>
            <a:off x="11277218" y="6473337"/>
            <a:ext cx="241300"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drive.google.com/file/d/1CHPnRob-gcW76spTcKjtVJaAyBcc3VAV/view?usp=sharing" TargetMode="External"/><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hyperlink" Target="https://drive.google.com/file/d/1QdC7NkaDx5-hVwoebj2X5JvvM2WijWHw/view?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42950" y="11049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1966595" y="2709862"/>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1609725" y="504126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p:nvPr/>
        </p:nvSpPr>
        <p:spPr>
          <a:xfrm>
            <a:off x="4351147" y="1945322"/>
            <a:ext cx="4267199" cy="1137491"/>
          </a:xfrm>
          <a:prstGeom prst="rect">
            <a:avLst/>
          </a:prstGeom>
        </p:spPr>
        <p:txBody>
          <a:bodyPr vert="horz" wrap="square" lIns="0" tIns="16510" rIns="0" bIns="0" rtlCol="0">
            <a:spAutoFit/>
          </a:bodyPr>
          <a:lstStyle/>
          <a:p>
            <a:pPr marL="12700">
              <a:lnSpc>
                <a:spcPct val="100000"/>
              </a:lnSpc>
              <a:spcBef>
                <a:spcPts val="130"/>
              </a:spcBef>
            </a:pPr>
            <a:r>
              <a:rPr lang="en-IN" sz="3600" dirty="0">
                <a:solidFill>
                  <a:srgbClr val="FF0000"/>
                </a:solidFill>
                <a:latin typeface="Trebuchet MS"/>
                <a:cs typeface="Trebuchet MS"/>
              </a:rPr>
              <a:t>PRAVEENKUMAR V</a:t>
            </a:r>
          </a:p>
          <a:p>
            <a:pPr marL="12700">
              <a:lnSpc>
                <a:spcPct val="100000"/>
              </a:lnSpc>
              <a:spcBef>
                <a:spcPts val="130"/>
              </a:spcBef>
            </a:pPr>
            <a:r>
              <a:rPr lang="en-IN" sz="3600" dirty="0">
                <a:solidFill>
                  <a:srgbClr val="FF0000"/>
                </a:solidFill>
                <a:latin typeface="Trebuchet MS"/>
                <a:cs typeface="Trebuchet MS"/>
              </a:rPr>
              <a:t>(2021506064)</a:t>
            </a:r>
          </a:p>
        </p:txBody>
      </p:sp>
      <p:sp>
        <p:nvSpPr>
          <p:cNvPr id="8" name="object 8"/>
          <p:cNvSpPr txBox="1"/>
          <p:nvPr/>
        </p:nvSpPr>
        <p:spPr>
          <a:xfrm>
            <a:off x="2893313" y="5106270"/>
            <a:ext cx="4343400" cy="443711"/>
          </a:xfrm>
          <a:prstGeom prst="rect">
            <a:avLst/>
          </a:prstGeom>
        </p:spPr>
        <p:txBody>
          <a:bodyPr vert="horz" wrap="square" lIns="0" tIns="12700" rIns="0" bIns="0" rtlCol="0">
            <a:spAutoFit/>
          </a:bodyPr>
          <a:lstStyle/>
          <a:p>
            <a:pPr marL="12700">
              <a:lnSpc>
                <a:spcPct val="100000"/>
              </a:lnSpc>
              <a:spcBef>
                <a:spcPts val="100"/>
              </a:spcBef>
            </a:pPr>
            <a:r>
              <a:rPr lang="en-US" sz="2800" b="1" spc="-40" dirty="0">
                <a:solidFill>
                  <a:srgbClr val="2D936B"/>
                </a:solidFill>
                <a:latin typeface="Trebuchet MS"/>
                <a:cs typeface="Trebuchet MS"/>
              </a:rPr>
              <a:t>Naan </a:t>
            </a:r>
            <a:r>
              <a:rPr lang="en-US" sz="2800" b="1" spc="-40" dirty="0" err="1">
                <a:solidFill>
                  <a:srgbClr val="2D936B"/>
                </a:solidFill>
                <a:latin typeface="Trebuchet MS"/>
                <a:cs typeface="Trebuchet MS"/>
              </a:rPr>
              <a:t>Mudhalvan</a:t>
            </a:r>
            <a:r>
              <a:rPr sz="2800" b="1" spc="-40" dirty="0">
                <a:solidFill>
                  <a:srgbClr val="2D936B"/>
                </a:solidFill>
                <a:latin typeface="Trebuchet MS"/>
                <a:cs typeface="Trebuchet MS"/>
              </a:rPr>
              <a:t> </a:t>
            </a:r>
            <a:r>
              <a:rPr sz="2800" b="1" spc="-10" dirty="0">
                <a:solidFill>
                  <a:srgbClr val="2D936B"/>
                </a:solidFill>
                <a:latin typeface="Trebuchet MS"/>
                <a:cs typeface="Trebuchet MS"/>
              </a:rPr>
              <a:t>Project</a:t>
            </a:r>
            <a:endParaRPr sz="2800" dirty="0">
              <a:latin typeface="Trebuchet MS"/>
              <a:cs typeface="Trebuchet MS"/>
            </a:endParaRPr>
          </a:p>
        </p:txBody>
      </p:sp>
      <p:pic>
        <p:nvPicPr>
          <p:cNvPr id="9" name="object 9"/>
          <p:cNvPicPr/>
          <p:nvPr/>
        </p:nvPicPr>
        <p:blipFill>
          <a:blip r:embed="rId2"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1</a:t>
            </a:fld>
            <a:endParaRPr spc="-50" dirty="0"/>
          </a:p>
        </p:txBody>
      </p:sp>
      <p:sp>
        <p:nvSpPr>
          <p:cNvPr id="12" name="TextBox 11">
            <a:extLst>
              <a:ext uri="{FF2B5EF4-FFF2-40B4-BE49-F238E27FC236}">
                <a16:creationId xmlns:a16="http://schemas.microsoft.com/office/drawing/2014/main" id="{D6608E22-8FEF-DFCE-6416-CBB18A8CE107}"/>
              </a:ext>
            </a:extLst>
          </p:cNvPr>
          <p:cNvSpPr txBox="1"/>
          <p:nvPr/>
        </p:nvSpPr>
        <p:spPr>
          <a:xfrm>
            <a:off x="4303013" y="3380455"/>
            <a:ext cx="5867400" cy="369332"/>
          </a:xfrm>
          <a:prstGeom prst="rect">
            <a:avLst/>
          </a:prstGeom>
          <a:noFill/>
        </p:spPr>
        <p:txBody>
          <a:bodyPr wrap="square" rtlCol="0">
            <a:spAutoFit/>
          </a:bodyPr>
          <a:lstStyle/>
          <a:p>
            <a:r>
              <a:rPr lang="en-IN" dirty="0">
                <a:solidFill>
                  <a:srgbClr val="FF0000"/>
                </a:solidFill>
              </a:rPr>
              <a:t>NM ID: 32E5DABE0F74A65BBC6465700C6813BD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558165" y="385444"/>
            <a:ext cx="9764395" cy="1019189"/>
          </a:xfrm>
          <a:prstGeom prst="rect">
            <a:avLst/>
          </a:prstGeom>
        </p:spPr>
        <p:txBody>
          <a:bodyPr vert="horz" wrap="square" lIns="0" tIns="460692" rIns="0" bIns="0" rtlCol="0">
            <a:spAutoFit/>
          </a:bodyPr>
          <a:lstStyle/>
          <a:p>
            <a:pPr marL="193675">
              <a:lnSpc>
                <a:spcPct val="100000"/>
              </a:lnSpc>
              <a:spcBef>
                <a:spcPts val="130"/>
              </a:spcBef>
            </a:pPr>
            <a:r>
              <a:rPr sz="3600" dirty="0"/>
              <a:t>PROJECT</a:t>
            </a:r>
            <a:r>
              <a:rPr sz="3600" spc="-90" dirty="0"/>
              <a:t> </a:t>
            </a:r>
            <a:r>
              <a:rPr sz="3600" spc="-10" dirty="0"/>
              <a:t>TITLE</a:t>
            </a:r>
            <a:endParaRPr sz="360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2</a:t>
            </a:fld>
            <a:endParaRPr spc="-50" dirty="0"/>
          </a:p>
        </p:txBody>
      </p:sp>
      <p:sp>
        <p:nvSpPr>
          <p:cNvPr id="23" name="TextBox 22">
            <a:extLst>
              <a:ext uri="{FF2B5EF4-FFF2-40B4-BE49-F238E27FC236}">
                <a16:creationId xmlns:a16="http://schemas.microsoft.com/office/drawing/2014/main" id="{7C62119A-4BDC-70F1-4C89-024ACB87CDE3}"/>
              </a:ext>
            </a:extLst>
          </p:cNvPr>
          <p:cNvSpPr txBox="1"/>
          <p:nvPr/>
        </p:nvSpPr>
        <p:spPr>
          <a:xfrm>
            <a:off x="944972" y="2656671"/>
            <a:ext cx="9043414" cy="1323439"/>
          </a:xfrm>
          <a:prstGeom prst="rect">
            <a:avLst/>
          </a:prstGeom>
          <a:noFill/>
        </p:spPr>
        <p:txBody>
          <a:bodyPr wrap="square" rtlCol="0">
            <a:spAutoFit/>
          </a:bodyPr>
          <a:lstStyle/>
          <a:p>
            <a:pPr algn="ctr"/>
            <a:r>
              <a:rPr lang="en-US" sz="4000" b="1" dirty="0">
                <a:solidFill>
                  <a:srgbClr val="FF0000"/>
                </a:solidFill>
              </a:rPr>
              <a:t>WASTE CLASSIFICATION </a:t>
            </a:r>
          </a:p>
          <a:p>
            <a:pPr algn="ctr"/>
            <a:r>
              <a:rPr lang="en-US" sz="4000" b="1" dirty="0">
                <a:solidFill>
                  <a:srgbClr val="FF0000"/>
                </a:solidFill>
              </a:rPr>
              <a:t>USING CNN</a:t>
            </a:r>
            <a:endParaRPr lang="en-IN" sz="40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485344" y="779840"/>
            <a:ext cx="9764395" cy="1122362"/>
          </a:xfrm>
          <a:prstGeom prst="rect">
            <a:avLst/>
          </a:prstGeom>
        </p:spPr>
        <p:txBody>
          <a:bodyPr vert="horz" wrap="square" lIns="0" tIns="73279" rIns="0" bIns="0" rtlCol="0">
            <a:spAutoFit/>
          </a:bodyPr>
          <a:lstStyle/>
          <a:p>
            <a:pPr marL="193675">
              <a:lnSpc>
                <a:spcPct val="100000"/>
              </a:lnSpc>
              <a:spcBef>
                <a:spcPts val="105"/>
              </a:spcBef>
            </a:pPr>
            <a:r>
              <a:rPr spc="-10" dirty="0"/>
              <a:t>AGENDA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3</a:t>
            </a:fld>
            <a:endParaRPr spc="-50" dirty="0"/>
          </a:p>
        </p:txBody>
      </p:sp>
      <p:sp>
        <p:nvSpPr>
          <p:cNvPr id="23" name="TextBox 22">
            <a:extLst>
              <a:ext uri="{FF2B5EF4-FFF2-40B4-BE49-F238E27FC236}">
                <a16:creationId xmlns:a16="http://schemas.microsoft.com/office/drawing/2014/main" id="{AE5235C9-C5A9-3396-21E6-A44D2020577A}"/>
              </a:ext>
            </a:extLst>
          </p:cNvPr>
          <p:cNvSpPr txBox="1"/>
          <p:nvPr/>
        </p:nvSpPr>
        <p:spPr>
          <a:xfrm>
            <a:off x="2051203" y="1815017"/>
            <a:ext cx="7600950" cy="5632311"/>
          </a:xfrm>
          <a:prstGeom prst="rect">
            <a:avLst/>
          </a:prstGeom>
          <a:noFill/>
        </p:spPr>
        <p:txBody>
          <a:bodyPr wrap="square" rtlCol="0">
            <a:spAutoFit/>
          </a:bodyPr>
          <a:lstStyle/>
          <a:p>
            <a:r>
              <a:rPr lang="en-US" sz="2400" dirty="0">
                <a:latin typeface="Trebuchet MS" panose="020B0603020202020204" pitchFamily="34" charset="0"/>
              </a:rPr>
              <a:t>The project aims to develop a waste classification using CNNs, followed by a dataset description detailing its composition and division into organic and recyclable classes. Data analysis includes visualizing dataset distribution and extracting insights. Model training and evaluation sections detail the training process, testing on new images, and result interpretation, culminating in a conclusion summarizing outcomes and suggesting future improvements.</a:t>
            </a:r>
          </a:p>
          <a:p>
            <a:endParaRPr lang="en-US" sz="2400" dirty="0">
              <a:latin typeface="Trebuchet MS" panose="020B0603020202020204" pitchFamily="34" charset="0"/>
            </a:endParaRPr>
          </a:p>
          <a:p>
            <a:endParaRPr lang="en-US" sz="2400" dirty="0">
              <a:latin typeface="Trebuchet MS" panose="020B0603020202020204" pitchFamily="34" charset="0"/>
            </a:endParaRPr>
          </a:p>
          <a:p>
            <a:endParaRPr lang="en-US" sz="2400" dirty="0">
              <a:latin typeface="Trebuchet MS" panose="020B0603020202020204" pitchFamily="34" charset="0"/>
            </a:endParaRPr>
          </a:p>
          <a:p>
            <a:endParaRPr lang="en-US" sz="2400" dirty="0">
              <a:latin typeface="Trebuchet MS" panose="020B0603020202020204" pitchFamily="34" charset="0"/>
            </a:endParaRPr>
          </a:p>
          <a:p>
            <a:endParaRPr lang="en-IN" sz="2400" dirty="0">
              <a:latin typeface="Trebuchet MS" panose="020B0603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781800" y="1253235"/>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8800"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10" dirty="0"/>
              <a:t>PROBLEM</a:t>
            </a:r>
            <a:r>
              <a:rPr sz="4250" dirty="0"/>
              <a:t>	</a:t>
            </a:r>
            <a:r>
              <a:rPr sz="4250" spc="-75" dirty="0"/>
              <a:t>STATEMENT</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4</a:t>
            </a:fld>
            <a:endParaRPr spc="-50" dirty="0"/>
          </a:p>
        </p:txBody>
      </p:sp>
      <p:sp>
        <p:nvSpPr>
          <p:cNvPr id="12" name="TextBox 11">
            <a:extLst>
              <a:ext uri="{FF2B5EF4-FFF2-40B4-BE49-F238E27FC236}">
                <a16:creationId xmlns:a16="http://schemas.microsoft.com/office/drawing/2014/main" id="{1FE82FA6-5D0C-91FA-249A-81CB5509EFC2}"/>
              </a:ext>
            </a:extLst>
          </p:cNvPr>
          <p:cNvSpPr txBox="1"/>
          <p:nvPr/>
        </p:nvSpPr>
        <p:spPr>
          <a:xfrm>
            <a:off x="990600" y="1592325"/>
            <a:ext cx="7220458" cy="3816429"/>
          </a:xfrm>
          <a:prstGeom prst="rect">
            <a:avLst/>
          </a:prstGeom>
          <a:noFill/>
        </p:spPr>
        <p:txBody>
          <a:bodyPr wrap="square">
            <a:spAutoFit/>
          </a:bodyPr>
          <a:lstStyle/>
          <a:p>
            <a:r>
              <a:rPr lang="en-US" sz="2200" dirty="0">
                <a:latin typeface="Trebuchet MS" panose="020B0603020202020204" pitchFamily="34" charset="0"/>
              </a:rPr>
              <a:t>The problem statement revolves around developing a CNN-based solution for waste classification into organic and recyclable categories. It aims to address the need for efficient waste sorting techniques to enhance recycling processes and reduce environmental impact. The project seeks to leverage deep learning techniques to accurately classify waste images, contributing to automated waste management systems. The ultimate goal is to create a scalable and reliable solution for waste classification, promoting sustainable waste management practices.</a:t>
            </a:r>
            <a:endParaRPr lang="en-IN" sz="2200" dirty="0">
              <a:latin typeface="Trebuchet MS" panose="020B0603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705600" y="135874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4785" cy="678180"/>
          </a:xfrm>
          <a:prstGeom prst="rect">
            <a:avLst/>
          </a:prstGeom>
        </p:spPr>
        <p:txBody>
          <a:bodyPr vert="horz" wrap="square" lIns="0" tIns="16510" rIns="0" bIns="0" rtlCol="0">
            <a:spAutoFit/>
          </a:bodyPr>
          <a:lstStyle/>
          <a:p>
            <a:pPr marL="12700">
              <a:lnSpc>
                <a:spcPct val="100000"/>
              </a:lnSpc>
              <a:spcBef>
                <a:spcPts val="130"/>
              </a:spcBef>
              <a:tabLst>
                <a:tab pos="2643505" algn="l"/>
              </a:tabLst>
            </a:pPr>
            <a:r>
              <a:rPr sz="4250" spc="-10" dirty="0"/>
              <a:t>PROJECT</a:t>
            </a:r>
            <a:r>
              <a:rPr sz="4250" dirty="0"/>
              <a:t>	</a:t>
            </a:r>
            <a:r>
              <a:rPr sz="4250" spc="-1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5</a:t>
            </a:fld>
            <a:endParaRPr spc="-50" dirty="0"/>
          </a:p>
        </p:txBody>
      </p:sp>
      <p:sp>
        <p:nvSpPr>
          <p:cNvPr id="12" name="TextBox 11">
            <a:extLst>
              <a:ext uri="{FF2B5EF4-FFF2-40B4-BE49-F238E27FC236}">
                <a16:creationId xmlns:a16="http://schemas.microsoft.com/office/drawing/2014/main" id="{5AAFB8A7-ABEB-3607-403D-265E7D1EFFEA}"/>
              </a:ext>
            </a:extLst>
          </p:cNvPr>
          <p:cNvSpPr txBox="1"/>
          <p:nvPr/>
        </p:nvSpPr>
        <p:spPr>
          <a:xfrm>
            <a:off x="739775" y="1694783"/>
            <a:ext cx="7170611" cy="461665"/>
          </a:xfrm>
          <a:prstGeom prst="rect">
            <a:avLst/>
          </a:prstGeom>
          <a:noFill/>
        </p:spPr>
        <p:txBody>
          <a:bodyPr wrap="square">
            <a:spAutoFit/>
          </a:bodyPr>
          <a:lstStyle/>
          <a:p>
            <a:r>
              <a:rPr lang="en-US" sz="2400" dirty="0">
                <a:latin typeface="Trebuchet MS" panose="020B0603020202020204" pitchFamily="34" charset="0"/>
              </a:rPr>
              <a:t>The project will involve the following steps:</a:t>
            </a:r>
            <a:endParaRPr lang="en-IN" sz="2400" dirty="0">
              <a:latin typeface="Trebuchet MS" panose="020B0603020202020204" pitchFamily="34" charset="0"/>
            </a:endParaRPr>
          </a:p>
        </p:txBody>
      </p:sp>
      <p:sp>
        <p:nvSpPr>
          <p:cNvPr id="16" name="TextBox 15">
            <a:extLst>
              <a:ext uri="{FF2B5EF4-FFF2-40B4-BE49-F238E27FC236}">
                <a16:creationId xmlns:a16="http://schemas.microsoft.com/office/drawing/2014/main" id="{3C56742B-9110-D075-49EE-128BB681192E}"/>
              </a:ext>
            </a:extLst>
          </p:cNvPr>
          <p:cNvSpPr txBox="1"/>
          <p:nvPr/>
        </p:nvSpPr>
        <p:spPr>
          <a:xfrm>
            <a:off x="739775" y="2349520"/>
            <a:ext cx="7947025" cy="4154984"/>
          </a:xfrm>
          <a:prstGeom prst="rect">
            <a:avLst/>
          </a:prstGeom>
          <a:noFill/>
        </p:spPr>
        <p:txBody>
          <a:bodyPr wrap="square">
            <a:spAutoFit/>
          </a:bodyPr>
          <a:lstStyle/>
          <a:p>
            <a:r>
              <a:rPr lang="en-US" sz="2400" b="1" dirty="0">
                <a:latin typeface="Trebuchet MS" panose="020B0603020202020204" pitchFamily="34" charset="0"/>
              </a:rPr>
              <a:t> Data Preparation</a:t>
            </a:r>
            <a:r>
              <a:rPr lang="en-US" sz="2400" dirty="0">
                <a:latin typeface="Trebuchet MS" panose="020B0603020202020204" pitchFamily="34" charset="0"/>
              </a:rPr>
              <a:t>: Collect and preprocess a dataset of waste images, categorizing them into organic and recyclable classes.</a:t>
            </a:r>
          </a:p>
          <a:p>
            <a:endParaRPr lang="en-US" sz="2400" dirty="0">
              <a:latin typeface="Trebuchet MS" panose="020B0603020202020204" pitchFamily="34" charset="0"/>
            </a:endParaRPr>
          </a:p>
          <a:p>
            <a:r>
              <a:rPr lang="en-US" sz="2400" b="1" dirty="0">
                <a:latin typeface="Trebuchet MS" panose="020B0603020202020204" pitchFamily="34" charset="0"/>
              </a:rPr>
              <a:t>Model Development: </a:t>
            </a:r>
            <a:r>
              <a:rPr lang="en-US" sz="2400" dirty="0">
                <a:latin typeface="Trebuchet MS" panose="020B0603020202020204" pitchFamily="34" charset="0"/>
              </a:rPr>
              <a:t>Design and implement a Convolutional Neural Network (CNN) architecture suitable for image classification tasks.</a:t>
            </a:r>
          </a:p>
          <a:p>
            <a:endParaRPr lang="en-US" sz="2400" dirty="0">
              <a:latin typeface="Trebuchet MS" panose="020B0603020202020204" pitchFamily="34" charset="0"/>
            </a:endParaRPr>
          </a:p>
          <a:p>
            <a:endParaRPr lang="en-US" sz="2400" dirty="0">
              <a:latin typeface="Trebuchet MS" panose="020B0603020202020204" pitchFamily="34" charset="0"/>
            </a:endParaRPr>
          </a:p>
          <a:p>
            <a:endParaRPr lang="en-US" sz="2400" dirty="0">
              <a:latin typeface="Trebuchet MS" panose="020B0603020202020204" pitchFamily="34" charset="0"/>
            </a:endParaRPr>
          </a:p>
          <a:p>
            <a:endParaRPr lang="en-IN" sz="2400" dirty="0">
              <a:latin typeface="Trebuchet MS" panose="020B0603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7" name="object 7"/>
          <p:cNvSpPr txBox="1">
            <a:spLocks noGrp="1"/>
          </p:cNvSpPr>
          <p:nvPr>
            <p:ph type="title"/>
          </p:nvPr>
        </p:nvSpPr>
        <p:spPr>
          <a:xfrm>
            <a:off x="706247" y="708121"/>
            <a:ext cx="5264785" cy="678180"/>
          </a:xfrm>
          <a:prstGeom prst="rect">
            <a:avLst/>
          </a:prstGeom>
        </p:spPr>
        <p:txBody>
          <a:bodyPr vert="horz" wrap="square" lIns="0" tIns="16510" rIns="0" bIns="0" rtlCol="0">
            <a:spAutoFit/>
          </a:bodyPr>
          <a:lstStyle/>
          <a:p>
            <a:pPr marL="12700">
              <a:lnSpc>
                <a:spcPct val="100000"/>
              </a:lnSpc>
              <a:spcBef>
                <a:spcPts val="130"/>
              </a:spcBef>
              <a:tabLst>
                <a:tab pos="2643505" algn="l"/>
              </a:tabLst>
            </a:pPr>
            <a:r>
              <a:rPr sz="4250" spc="-10" dirty="0"/>
              <a:t>PROJECT</a:t>
            </a:r>
            <a:r>
              <a:rPr sz="4250" dirty="0"/>
              <a:t>	</a:t>
            </a:r>
            <a:r>
              <a:rPr sz="4250" spc="-10" dirty="0"/>
              <a:t>OVERVIEW</a:t>
            </a:r>
            <a:endParaRPr sz="4250" dirty="0"/>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6</a:t>
            </a:fld>
            <a:endParaRPr spc="-50" dirty="0"/>
          </a:p>
        </p:txBody>
      </p:sp>
      <p:sp>
        <p:nvSpPr>
          <p:cNvPr id="18" name="TextBox 17">
            <a:extLst>
              <a:ext uri="{FF2B5EF4-FFF2-40B4-BE49-F238E27FC236}">
                <a16:creationId xmlns:a16="http://schemas.microsoft.com/office/drawing/2014/main" id="{0A968E6D-6EA1-4EFD-BA77-625E0F165C1C}"/>
              </a:ext>
            </a:extLst>
          </p:cNvPr>
          <p:cNvSpPr txBox="1"/>
          <p:nvPr/>
        </p:nvSpPr>
        <p:spPr>
          <a:xfrm>
            <a:off x="893572" y="1696157"/>
            <a:ext cx="7577328" cy="4693593"/>
          </a:xfrm>
          <a:prstGeom prst="rect">
            <a:avLst/>
          </a:prstGeom>
          <a:noFill/>
        </p:spPr>
        <p:txBody>
          <a:bodyPr wrap="square">
            <a:spAutoFit/>
          </a:bodyPr>
          <a:lstStyle/>
          <a:p>
            <a:r>
              <a:rPr lang="en-US" sz="2300" b="1" dirty="0">
                <a:latin typeface="Trebuchet MS" panose="020B0603020202020204" pitchFamily="34" charset="0"/>
              </a:rPr>
              <a:t>Training: </a:t>
            </a:r>
            <a:r>
              <a:rPr lang="en-US" sz="2300" dirty="0">
                <a:latin typeface="Trebuchet MS" panose="020B0603020202020204" pitchFamily="34" charset="0"/>
              </a:rPr>
              <a:t>Train the CNN model using the prepared dataset to learn the distinguishing features of organic and recyclable waste items.</a:t>
            </a:r>
          </a:p>
          <a:p>
            <a:endParaRPr lang="en-US" sz="2300" dirty="0">
              <a:latin typeface="Trebuchet MS" panose="020B0603020202020204" pitchFamily="34" charset="0"/>
            </a:endParaRPr>
          </a:p>
          <a:p>
            <a:r>
              <a:rPr lang="en-US" sz="2300" b="1" dirty="0">
                <a:latin typeface="Trebuchet MS" panose="020B0603020202020204" pitchFamily="34" charset="0"/>
              </a:rPr>
              <a:t>Evaluation: </a:t>
            </a:r>
            <a:r>
              <a:rPr lang="en-US" sz="2300" dirty="0">
                <a:latin typeface="Trebuchet MS" panose="020B0603020202020204" pitchFamily="34" charset="0"/>
              </a:rPr>
              <a:t>Assess the performance of the trained model on a separate test dataset to measure its accuracy and effectiveness.</a:t>
            </a:r>
          </a:p>
          <a:p>
            <a:endParaRPr lang="en-US" sz="2300" dirty="0">
              <a:latin typeface="Trebuchet MS" panose="020B0603020202020204" pitchFamily="34" charset="0"/>
            </a:endParaRPr>
          </a:p>
          <a:p>
            <a:r>
              <a:rPr lang="en-US" sz="2300" b="1" dirty="0">
                <a:latin typeface="Trebuchet MS" panose="020B0603020202020204" pitchFamily="34" charset="0"/>
              </a:rPr>
              <a:t>Deployment: </a:t>
            </a:r>
            <a:r>
              <a:rPr lang="en-US" sz="2300" dirty="0">
                <a:latin typeface="Trebuchet MS" panose="020B0603020202020204" pitchFamily="34" charset="0"/>
              </a:rPr>
              <a:t>Deploy the trained model to classify new waste images into organic or recyclable categories, potentially integrating it into automated waste sorting systems.</a:t>
            </a:r>
          </a:p>
          <a:p>
            <a:endParaRPr lang="en-IN" sz="2300" dirty="0">
              <a:latin typeface="Trebuchet MS" panose="020B0603020202020204" pitchFamily="34" charset="0"/>
            </a:endParaRPr>
          </a:p>
        </p:txBody>
      </p:sp>
    </p:spTree>
    <p:extLst>
      <p:ext uri="{BB962C8B-B14F-4D97-AF65-F5344CB8AC3E}">
        <p14:creationId xmlns:p14="http://schemas.microsoft.com/office/powerpoint/2010/main" val="3017490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522858" rIns="0" bIns="0" rtlCol="0">
            <a:spAutoFit/>
          </a:bodyPr>
          <a:lstStyle/>
          <a:p>
            <a:pPr marL="153670">
              <a:lnSpc>
                <a:spcPct val="100000"/>
              </a:lnSpc>
              <a:spcBef>
                <a:spcPts val="130"/>
              </a:spcBef>
            </a:pPr>
            <a:r>
              <a:rPr sz="3200" dirty="0"/>
              <a:t>WHO</a:t>
            </a:r>
            <a:r>
              <a:rPr sz="3200" spc="-245" dirty="0"/>
              <a:t> </a:t>
            </a:r>
            <a:r>
              <a:rPr sz="3200" dirty="0"/>
              <a:t>ARE</a:t>
            </a:r>
            <a:r>
              <a:rPr sz="3200" spc="-70" dirty="0"/>
              <a:t> </a:t>
            </a:r>
            <a:r>
              <a:rPr sz="3200" dirty="0"/>
              <a:t>THE</a:t>
            </a:r>
            <a:r>
              <a:rPr sz="3200" spc="-55" dirty="0"/>
              <a:t> </a:t>
            </a:r>
            <a:r>
              <a:rPr sz="3200" dirty="0"/>
              <a:t>END</a:t>
            </a:r>
            <a:r>
              <a:rPr sz="3200" spc="-70" dirty="0"/>
              <a:t> </a:t>
            </a:r>
            <a:r>
              <a:rPr sz="3200" spc="-10" dirty="0"/>
              <a:t>USERS?</a:t>
            </a:r>
            <a:endParaRPr sz="320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7</a:t>
            </a:fld>
            <a:endParaRPr spc="-50" dirty="0"/>
          </a:p>
        </p:txBody>
      </p:sp>
      <p:sp>
        <p:nvSpPr>
          <p:cNvPr id="10" name="TextBox 9">
            <a:extLst>
              <a:ext uri="{FF2B5EF4-FFF2-40B4-BE49-F238E27FC236}">
                <a16:creationId xmlns:a16="http://schemas.microsoft.com/office/drawing/2014/main" id="{F62923BA-50E4-C00C-F548-412C337485AD}"/>
              </a:ext>
            </a:extLst>
          </p:cNvPr>
          <p:cNvSpPr txBox="1"/>
          <p:nvPr/>
        </p:nvSpPr>
        <p:spPr>
          <a:xfrm>
            <a:off x="990600" y="2057400"/>
            <a:ext cx="7543800" cy="2554545"/>
          </a:xfrm>
          <a:prstGeom prst="rect">
            <a:avLst/>
          </a:prstGeom>
          <a:noFill/>
        </p:spPr>
        <p:txBody>
          <a:bodyPr wrap="square">
            <a:spAutoFit/>
          </a:bodyPr>
          <a:lstStyle/>
          <a:p>
            <a:pPr marL="342900" indent="-342900" algn="l">
              <a:buFont typeface="Arial" panose="020B0604020202020204" pitchFamily="34" charset="0"/>
              <a:buChar char="•"/>
            </a:pPr>
            <a:r>
              <a:rPr lang="en-US" sz="3200" dirty="0">
                <a:latin typeface="Trebuchet MS" panose="020B0603020202020204" pitchFamily="34" charset="0"/>
              </a:rPr>
              <a:t>Waste Management Facilities</a:t>
            </a:r>
          </a:p>
          <a:p>
            <a:pPr marL="342900" indent="-342900" algn="l">
              <a:buFont typeface="Arial" panose="020B0604020202020204" pitchFamily="34" charset="0"/>
              <a:buChar char="•"/>
            </a:pPr>
            <a:r>
              <a:rPr lang="en-US" sz="3200" dirty="0">
                <a:latin typeface="Trebuchet MS" panose="020B0603020202020204" pitchFamily="34" charset="0"/>
              </a:rPr>
              <a:t>Recycling Centers</a:t>
            </a:r>
          </a:p>
          <a:p>
            <a:pPr marL="342900" indent="-342900" algn="l">
              <a:buFont typeface="Arial" panose="020B0604020202020204" pitchFamily="34" charset="0"/>
              <a:buChar char="•"/>
            </a:pPr>
            <a:r>
              <a:rPr lang="en-US" sz="3200" dirty="0">
                <a:latin typeface="Trebuchet MS" panose="020B0603020202020204" pitchFamily="34" charset="0"/>
              </a:rPr>
              <a:t>Municipalities and Local Governments</a:t>
            </a:r>
          </a:p>
          <a:p>
            <a:pPr marL="342900" indent="-342900" algn="l">
              <a:buFont typeface="Arial" panose="020B0604020202020204" pitchFamily="34" charset="0"/>
              <a:buChar char="•"/>
            </a:pPr>
            <a:r>
              <a:rPr lang="en-US" sz="3200" dirty="0">
                <a:latin typeface="Trebuchet MS" panose="020B0603020202020204" pitchFamily="34" charset="0"/>
              </a:rPr>
              <a:t>Environmental Organizations</a:t>
            </a:r>
          </a:p>
          <a:p>
            <a:pPr marL="342900" indent="-342900" algn="l">
              <a:buFont typeface="Arial" panose="020B0604020202020204" pitchFamily="34" charset="0"/>
              <a:buChar char="•"/>
            </a:pPr>
            <a:r>
              <a:rPr lang="en-US" sz="3200" dirty="0">
                <a:latin typeface="Trebuchet MS" panose="020B0603020202020204" pitchFamily="34" charset="0"/>
              </a:rPr>
              <a:t>Industries and Businesses</a:t>
            </a:r>
            <a:endParaRPr lang="en-IN" sz="3200" dirty="0">
              <a:latin typeface="Trebuchet MS" panose="020B0603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385444"/>
            <a:ext cx="9728835" cy="982961"/>
          </a:xfrm>
          <a:prstGeom prst="rect">
            <a:avLst/>
          </a:prstGeom>
        </p:spPr>
        <p:txBody>
          <a:bodyPr vert="horz" wrap="square" lIns="0" tIns="485775" rIns="0" bIns="0" rtlCol="0">
            <a:spAutoFit/>
          </a:bodyPr>
          <a:lstStyle/>
          <a:p>
            <a:pPr marL="12700">
              <a:lnSpc>
                <a:spcPct val="100000"/>
              </a:lnSpc>
              <a:spcBef>
                <a:spcPts val="105"/>
              </a:spcBef>
            </a:pPr>
            <a:r>
              <a:rPr lang="en-IN" sz="3200" dirty="0"/>
              <a:t>MY</a:t>
            </a:r>
            <a:r>
              <a:rPr sz="3200" spc="-95" dirty="0"/>
              <a:t> </a:t>
            </a:r>
            <a:r>
              <a:rPr sz="3200" spc="-10" dirty="0"/>
              <a:t>SOLUTION</a:t>
            </a:r>
            <a:r>
              <a:rPr sz="3200" spc="-345" dirty="0"/>
              <a:t> </a:t>
            </a:r>
            <a:r>
              <a:rPr sz="3200" dirty="0"/>
              <a:t>AND</a:t>
            </a:r>
            <a:r>
              <a:rPr sz="3200" spc="-20" dirty="0"/>
              <a:t> </a:t>
            </a:r>
            <a:r>
              <a:rPr sz="3200" dirty="0"/>
              <a:t>ITS </a:t>
            </a:r>
            <a:r>
              <a:rPr sz="3200" spc="-20" dirty="0"/>
              <a:t>VALUE</a:t>
            </a:r>
            <a:r>
              <a:rPr sz="3200" spc="-120" dirty="0"/>
              <a:t> </a:t>
            </a:r>
            <a:r>
              <a:rPr sz="3200" spc="-10" dirty="0"/>
              <a:t>PROPOSITION</a:t>
            </a:r>
            <a:endParaRPr sz="32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8</a:t>
            </a:fld>
            <a:endParaRPr spc="-50" dirty="0"/>
          </a:p>
        </p:txBody>
      </p:sp>
      <p:sp>
        <p:nvSpPr>
          <p:cNvPr id="11" name="TextBox 10">
            <a:extLst>
              <a:ext uri="{FF2B5EF4-FFF2-40B4-BE49-F238E27FC236}">
                <a16:creationId xmlns:a16="http://schemas.microsoft.com/office/drawing/2014/main" id="{6E900B2A-9CC5-98BA-9A63-E73A161AF123}"/>
              </a:ext>
            </a:extLst>
          </p:cNvPr>
          <p:cNvSpPr txBox="1"/>
          <p:nvPr/>
        </p:nvSpPr>
        <p:spPr>
          <a:xfrm>
            <a:off x="2819400" y="2209800"/>
            <a:ext cx="6099048" cy="461665"/>
          </a:xfrm>
          <a:prstGeom prst="rect">
            <a:avLst/>
          </a:prstGeom>
          <a:noFill/>
        </p:spPr>
        <p:txBody>
          <a:bodyPr wrap="square">
            <a:spAutoFit/>
          </a:bodyPr>
          <a:lstStyle/>
          <a:p>
            <a:r>
              <a:rPr lang="en-US" sz="2400" dirty="0">
                <a:solidFill>
                  <a:srgbClr val="FF0000"/>
                </a:solidFill>
              </a:rPr>
              <a:t>SOLUTION:</a:t>
            </a:r>
            <a:endParaRPr lang="en-IN" sz="2400" dirty="0">
              <a:solidFill>
                <a:srgbClr val="FF0000"/>
              </a:solidFill>
            </a:endParaRPr>
          </a:p>
        </p:txBody>
      </p:sp>
      <p:sp>
        <p:nvSpPr>
          <p:cNvPr id="13" name="TextBox 12">
            <a:extLst>
              <a:ext uri="{FF2B5EF4-FFF2-40B4-BE49-F238E27FC236}">
                <a16:creationId xmlns:a16="http://schemas.microsoft.com/office/drawing/2014/main" id="{8B042699-5C9F-05C4-59ED-88316240FDDB}"/>
              </a:ext>
            </a:extLst>
          </p:cNvPr>
          <p:cNvSpPr txBox="1"/>
          <p:nvPr/>
        </p:nvSpPr>
        <p:spPr>
          <a:xfrm>
            <a:off x="2819400" y="2725876"/>
            <a:ext cx="6099048" cy="2862322"/>
          </a:xfrm>
          <a:prstGeom prst="rect">
            <a:avLst/>
          </a:prstGeom>
          <a:noFill/>
        </p:spPr>
        <p:txBody>
          <a:bodyPr wrap="square">
            <a:spAutoFit/>
          </a:bodyPr>
          <a:lstStyle/>
          <a:p>
            <a:pPr marL="285750" indent="-285750">
              <a:buFont typeface="Arial" panose="020B0604020202020204" pitchFamily="34" charset="0"/>
              <a:buChar char="•"/>
            </a:pPr>
            <a:r>
              <a:rPr lang="en-IN" sz="2000" dirty="0">
                <a:latin typeface="Trebuchet MS" panose="020B0603020202020204" pitchFamily="34" charset="0"/>
              </a:rPr>
              <a:t>Develop a model using Convolutional Neural networks (ANNs) to predict Waste Classification using image dataset.</a:t>
            </a:r>
          </a:p>
          <a:p>
            <a:pPr marL="285750" indent="-285750">
              <a:buFont typeface="Arial" panose="020B0604020202020204" pitchFamily="34" charset="0"/>
              <a:buChar char="•"/>
            </a:pPr>
            <a:endParaRPr lang="en-IN" sz="2000" dirty="0">
              <a:latin typeface="Trebuchet MS" panose="020B0603020202020204" pitchFamily="34" charset="0"/>
            </a:endParaRPr>
          </a:p>
          <a:p>
            <a:pPr marL="285750" indent="-285750">
              <a:buFont typeface="Arial" panose="020B0604020202020204" pitchFamily="34" charset="0"/>
              <a:buChar char="•"/>
            </a:pPr>
            <a:r>
              <a:rPr lang="en-IN" sz="2000" dirty="0">
                <a:latin typeface="Trebuchet MS" panose="020B0603020202020204" pitchFamily="34" charset="0"/>
              </a:rPr>
              <a:t>Utilize Python programming language with libraries such as </a:t>
            </a:r>
            <a:r>
              <a:rPr lang="en-IN" sz="2000" dirty="0" err="1">
                <a:latin typeface="Trebuchet MS" panose="020B0603020202020204" pitchFamily="34" charset="0"/>
              </a:rPr>
              <a:t>Keras</a:t>
            </a:r>
            <a:r>
              <a:rPr lang="en-IN" sz="2000" dirty="0">
                <a:latin typeface="Trebuchet MS" panose="020B0603020202020204" pitchFamily="34" charset="0"/>
              </a:rPr>
              <a:t> for CNN implementation.</a:t>
            </a:r>
          </a:p>
          <a:p>
            <a:pPr marL="285750" indent="-285750">
              <a:buFont typeface="Arial" panose="020B0604020202020204" pitchFamily="34" charset="0"/>
              <a:buChar char="•"/>
            </a:pPr>
            <a:endParaRPr lang="en-IN" sz="2000" dirty="0">
              <a:latin typeface="Trebuchet MS" panose="020B0603020202020204" pitchFamily="34" charset="0"/>
            </a:endParaRPr>
          </a:p>
          <a:p>
            <a:pPr marL="285750" indent="-285750">
              <a:buFont typeface="Arial" panose="020B0604020202020204" pitchFamily="34" charset="0"/>
              <a:buChar char="•"/>
            </a:pPr>
            <a:r>
              <a:rPr lang="en-IN" sz="2000" dirty="0">
                <a:latin typeface="Trebuchet MS" panose="020B0603020202020204" pitchFamily="34" charset="0"/>
              </a:rPr>
              <a:t>Use Kaggle for interactive development and documentation of the project.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457200" y="20133"/>
            <a:ext cx="9728835" cy="982961"/>
          </a:xfrm>
          <a:prstGeom prst="rect">
            <a:avLst/>
          </a:prstGeom>
        </p:spPr>
        <p:txBody>
          <a:bodyPr vert="horz" wrap="square" lIns="0" tIns="485775" rIns="0" bIns="0" rtlCol="0">
            <a:spAutoFit/>
          </a:bodyPr>
          <a:lstStyle/>
          <a:p>
            <a:pPr marL="12700">
              <a:lnSpc>
                <a:spcPct val="100000"/>
              </a:lnSpc>
              <a:spcBef>
                <a:spcPts val="105"/>
              </a:spcBef>
            </a:pPr>
            <a:r>
              <a:rPr lang="en-IN" sz="3200" dirty="0"/>
              <a:t>MY</a:t>
            </a:r>
            <a:r>
              <a:rPr sz="3200" spc="-95" dirty="0"/>
              <a:t> </a:t>
            </a:r>
            <a:r>
              <a:rPr sz="3200" spc="-10" dirty="0"/>
              <a:t>SOLUTION</a:t>
            </a:r>
            <a:r>
              <a:rPr sz="3200" spc="-345" dirty="0"/>
              <a:t> </a:t>
            </a:r>
            <a:r>
              <a:rPr sz="3200" dirty="0"/>
              <a:t>AND</a:t>
            </a:r>
            <a:r>
              <a:rPr sz="3200" spc="-20" dirty="0"/>
              <a:t> </a:t>
            </a:r>
            <a:r>
              <a:rPr sz="3200" dirty="0"/>
              <a:t>ITS </a:t>
            </a:r>
            <a:r>
              <a:rPr sz="3200" spc="-20" dirty="0"/>
              <a:t>VALUE</a:t>
            </a:r>
            <a:r>
              <a:rPr sz="3200" spc="-120" dirty="0"/>
              <a:t> </a:t>
            </a:r>
            <a:r>
              <a:rPr sz="3200" spc="-10" dirty="0"/>
              <a:t>PROPOSITION</a:t>
            </a:r>
            <a:endParaRPr sz="32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9</a:t>
            </a:fld>
            <a:endParaRPr spc="-50" dirty="0"/>
          </a:p>
        </p:txBody>
      </p:sp>
      <p:sp>
        <p:nvSpPr>
          <p:cNvPr id="11" name="TextBox 10">
            <a:extLst>
              <a:ext uri="{FF2B5EF4-FFF2-40B4-BE49-F238E27FC236}">
                <a16:creationId xmlns:a16="http://schemas.microsoft.com/office/drawing/2014/main" id="{6E900B2A-9CC5-98BA-9A63-E73A161AF123}"/>
              </a:ext>
            </a:extLst>
          </p:cNvPr>
          <p:cNvSpPr txBox="1"/>
          <p:nvPr/>
        </p:nvSpPr>
        <p:spPr>
          <a:xfrm>
            <a:off x="2695574" y="1280364"/>
            <a:ext cx="6099048" cy="461665"/>
          </a:xfrm>
          <a:prstGeom prst="rect">
            <a:avLst/>
          </a:prstGeom>
          <a:noFill/>
        </p:spPr>
        <p:txBody>
          <a:bodyPr wrap="square">
            <a:spAutoFit/>
          </a:bodyPr>
          <a:lstStyle/>
          <a:p>
            <a:r>
              <a:rPr lang="en-US" sz="2400" dirty="0">
                <a:solidFill>
                  <a:srgbClr val="FF0000"/>
                </a:solidFill>
              </a:rPr>
              <a:t>VALUE PROPOSITION:</a:t>
            </a:r>
            <a:endParaRPr lang="en-IN" sz="2400" dirty="0">
              <a:solidFill>
                <a:srgbClr val="FF0000"/>
              </a:solidFill>
            </a:endParaRPr>
          </a:p>
        </p:txBody>
      </p:sp>
      <p:sp>
        <p:nvSpPr>
          <p:cNvPr id="13" name="TextBox 12">
            <a:extLst>
              <a:ext uri="{FF2B5EF4-FFF2-40B4-BE49-F238E27FC236}">
                <a16:creationId xmlns:a16="http://schemas.microsoft.com/office/drawing/2014/main" id="{8B042699-5C9F-05C4-59ED-88316240FDDB}"/>
              </a:ext>
            </a:extLst>
          </p:cNvPr>
          <p:cNvSpPr txBox="1"/>
          <p:nvPr/>
        </p:nvSpPr>
        <p:spPr>
          <a:xfrm>
            <a:off x="2771141" y="1695450"/>
            <a:ext cx="6725285" cy="4524315"/>
          </a:xfrm>
          <a:prstGeom prst="rect">
            <a:avLst/>
          </a:prstGeom>
          <a:noFill/>
        </p:spPr>
        <p:txBody>
          <a:bodyPr wrap="square">
            <a:spAutoFit/>
          </a:bodyPr>
          <a:lstStyle/>
          <a:p>
            <a:pPr marL="285750" indent="-285750">
              <a:buFont typeface="Arial" panose="020B0604020202020204" pitchFamily="34" charset="0"/>
              <a:buChar char="•"/>
            </a:pPr>
            <a:endParaRPr lang="en-US" dirty="0">
              <a:latin typeface="Trebuchet MS" panose="020B0603020202020204" pitchFamily="34" charset="0"/>
            </a:endParaRPr>
          </a:p>
          <a:p>
            <a:pPr marL="285750" indent="-285750">
              <a:buFont typeface="Arial" panose="020B0604020202020204" pitchFamily="34" charset="0"/>
              <a:buChar char="•"/>
            </a:pPr>
            <a:r>
              <a:rPr lang="en-US" dirty="0">
                <a:latin typeface="Trebuchet MS" panose="020B0603020202020204" pitchFamily="34" charset="0"/>
              </a:rPr>
              <a:t>The solution introduces an automated waste sorting system driven by Convolutional Neural Networks (CNNs), promising enhanced efficiency and accuracy in waste classification. Through real-time categorization of waste items into organic and recyclable classes, it facilitates timely decision-making and resource allocation. By optimizing resource utilization within waste management facilities, the solution minimizes operational costs while maximizing recycling rates, thereby promoting environmental sustainability. Its streamlined processes reduce reliance on manual labor, ensuring consistent and reliable waste sorting outcomes. Overall, the system's value proposition lies in its ability to revolutionize waste management practices, delivering cost savings, improved recycling rates, and reduced environmental impact.</a:t>
            </a:r>
          </a:p>
        </p:txBody>
      </p:sp>
    </p:spTree>
    <p:extLst>
      <p:ext uri="{BB962C8B-B14F-4D97-AF65-F5344CB8AC3E}">
        <p14:creationId xmlns:p14="http://schemas.microsoft.com/office/powerpoint/2010/main" val="675434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8305800" y="1328266"/>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381000" y="120843"/>
            <a:ext cx="9764395" cy="942822"/>
          </a:xfrm>
          <a:prstGeom prst="rect">
            <a:avLst/>
          </a:prstGeom>
        </p:spPr>
        <p:txBody>
          <a:bodyPr vert="horz" wrap="square" lIns="0" tIns="286004" rIns="0" bIns="0" rtlCol="0">
            <a:spAutoFit/>
          </a:bodyPr>
          <a:lstStyle/>
          <a:p>
            <a:pPr marL="193675">
              <a:lnSpc>
                <a:spcPct val="100000"/>
              </a:lnSpc>
              <a:spcBef>
                <a:spcPts val="130"/>
              </a:spcBef>
            </a:pPr>
            <a:r>
              <a:rPr sz="4250" dirty="0"/>
              <a:t>THE</a:t>
            </a:r>
            <a:r>
              <a:rPr sz="4250" spc="20" dirty="0"/>
              <a:t> </a:t>
            </a:r>
            <a:r>
              <a:rPr sz="4250" dirty="0"/>
              <a:t>WOW</a:t>
            </a:r>
            <a:r>
              <a:rPr sz="4250" spc="90" dirty="0"/>
              <a:t> </a:t>
            </a:r>
            <a:r>
              <a:rPr sz="4250" dirty="0"/>
              <a:t>IN </a:t>
            </a:r>
            <a:r>
              <a:rPr lang="en-IN" sz="4250" dirty="0"/>
              <a:t>MY</a:t>
            </a:r>
            <a:r>
              <a:rPr sz="4250" dirty="0"/>
              <a:t> </a:t>
            </a:r>
            <a:r>
              <a:rPr sz="4250" spc="-10" dirty="0"/>
              <a:t>SOLUTION</a:t>
            </a:r>
            <a:endParaRPr sz="425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10</a:t>
            </a:fld>
            <a:endParaRPr spc="-25" dirty="0"/>
          </a:p>
        </p:txBody>
      </p:sp>
      <p:sp>
        <p:nvSpPr>
          <p:cNvPr id="10" name="TextBox 9">
            <a:extLst>
              <a:ext uri="{FF2B5EF4-FFF2-40B4-BE49-F238E27FC236}">
                <a16:creationId xmlns:a16="http://schemas.microsoft.com/office/drawing/2014/main" id="{24BFA440-6AC8-10F8-54BF-4BEA4A78DFBC}"/>
              </a:ext>
            </a:extLst>
          </p:cNvPr>
          <p:cNvSpPr txBox="1"/>
          <p:nvPr/>
        </p:nvSpPr>
        <p:spPr>
          <a:xfrm>
            <a:off x="747395" y="1340767"/>
            <a:ext cx="6770941" cy="1323439"/>
          </a:xfrm>
          <a:prstGeom prst="rect">
            <a:avLst/>
          </a:prstGeom>
          <a:noFill/>
        </p:spPr>
        <p:txBody>
          <a:bodyPr wrap="square">
            <a:spAutoFit/>
          </a:bodyPr>
          <a:lstStyle/>
          <a:p>
            <a:r>
              <a:rPr lang="en-US" sz="2000" dirty="0">
                <a:latin typeface="Trebuchet MS" panose="020B0603020202020204" pitchFamily="34" charset="0"/>
              </a:rPr>
              <a:t>The "wow" factor in your solution lies in its ability to revolutionize traditional waste management practices through cutting-edge technology. </a:t>
            </a:r>
            <a:r>
              <a:rPr lang="en-IN" sz="2000" dirty="0">
                <a:latin typeface="Trebuchet MS" panose="020B0603020202020204" pitchFamily="34" charset="0"/>
              </a:rPr>
              <a:t>By harnessing the power of CNNs, your solution offers:</a:t>
            </a:r>
          </a:p>
        </p:txBody>
      </p:sp>
      <p:sp>
        <p:nvSpPr>
          <p:cNvPr id="12" name="TextBox 11">
            <a:extLst>
              <a:ext uri="{FF2B5EF4-FFF2-40B4-BE49-F238E27FC236}">
                <a16:creationId xmlns:a16="http://schemas.microsoft.com/office/drawing/2014/main" id="{725F7298-87DA-F7B8-CE2D-B19F986130CA}"/>
              </a:ext>
            </a:extLst>
          </p:cNvPr>
          <p:cNvSpPr txBox="1"/>
          <p:nvPr/>
        </p:nvSpPr>
        <p:spPr>
          <a:xfrm>
            <a:off x="2355850" y="2985641"/>
            <a:ext cx="7419912" cy="3000821"/>
          </a:xfrm>
          <a:prstGeom prst="rect">
            <a:avLst/>
          </a:prstGeom>
          <a:noFill/>
        </p:spPr>
        <p:txBody>
          <a:bodyPr wrap="square">
            <a:spAutoFit/>
          </a:bodyPr>
          <a:lstStyle/>
          <a:p>
            <a:pPr marL="285750" indent="-285750">
              <a:buFont typeface="Arial" panose="020B0604020202020204" pitchFamily="34" charset="0"/>
              <a:buChar char="•"/>
            </a:pPr>
            <a:r>
              <a:rPr lang="en-US" sz="2100" b="1" dirty="0"/>
              <a:t>Cutting-edge Technology: </a:t>
            </a:r>
            <a:r>
              <a:rPr lang="en-US" sz="2100" dirty="0"/>
              <a:t>Utilizing Convolutional Neural Networks (CNNs) represents a state-of-the-art solution in waste management, showcasing the integration of advanced technology into traditional processes.</a:t>
            </a:r>
          </a:p>
          <a:p>
            <a:pPr marL="285750" indent="-285750">
              <a:buFont typeface="Arial" panose="020B0604020202020204" pitchFamily="34" charset="0"/>
              <a:buChar char="•"/>
            </a:pPr>
            <a:endParaRPr lang="en-US" sz="2100" dirty="0"/>
          </a:p>
          <a:p>
            <a:pPr marL="285750" indent="-285750">
              <a:buFont typeface="Arial" panose="020B0604020202020204" pitchFamily="34" charset="0"/>
              <a:buChar char="•"/>
            </a:pPr>
            <a:r>
              <a:rPr lang="en-US" sz="2100" b="1" dirty="0"/>
              <a:t>Efficiency and Accuracy: </a:t>
            </a:r>
            <a:r>
              <a:rPr lang="en-US" sz="2100" dirty="0"/>
              <a:t>The automated waste sorting system offers unparalleled efficiency and accuracy compared to manual sorting methods, ensuring precise classification of waste items in real-time.</a:t>
            </a:r>
            <a:endParaRPr lang="en-IN"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8305800" y="116634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558165" y="385444"/>
            <a:ext cx="9764395" cy="942822"/>
          </a:xfrm>
          <a:prstGeom prst="rect">
            <a:avLst/>
          </a:prstGeom>
        </p:spPr>
        <p:txBody>
          <a:bodyPr vert="horz" wrap="square" lIns="0" tIns="286004" rIns="0" bIns="0" rtlCol="0">
            <a:spAutoFit/>
          </a:bodyPr>
          <a:lstStyle/>
          <a:p>
            <a:pPr marL="193675">
              <a:lnSpc>
                <a:spcPct val="100000"/>
              </a:lnSpc>
              <a:spcBef>
                <a:spcPts val="130"/>
              </a:spcBef>
            </a:pPr>
            <a:r>
              <a:rPr sz="4250" dirty="0"/>
              <a:t>THE</a:t>
            </a:r>
            <a:r>
              <a:rPr sz="4250" spc="20" dirty="0"/>
              <a:t> </a:t>
            </a:r>
            <a:r>
              <a:rPr sz="4250" dirty="0"/>
              <a:t>WOW</a:t>
            </a:r>
            <a:r>
              <a:rPr sz="4250" spc="90" dirty="0"/>
              <a:t> </a:t>
            </a:r>
            <a:r>
              <a:rPr sz="4250" dirty="0"/>
              <a:t>IN </a:t>
            </a:r>
            <a:r>
              <a:rPr lang="en-IN" sz="4250" dirty="0"/>
              <a:t>MY</a:t>
            </a:r>
            <a:r>
              <a:rPr sz="4250" dirty="0"/>
              <a:t> </a:t>
            </a:r>
            <a:r>
              <a:rPr sz="4250" spc="-10" dirty="0"/>
              <a:t>SOLUTION</a:t>
            </a:r>
            <a:endParaRPr sz="425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11</a:t>
            </a:fld>
            <a:endParaRPr spc="-25" dirty="0"/>
          </a:p>
        </p:txBody>
      </p:sp>
      <p:sp>
        <p:nvSpPr>
          <p:cNvPr id="12" name="TextBox 11">
            <a:extLst>
              <a:ext uri="{FF2B5EF4-FFF2-40B4-BE49-F238E27FC236}">
                <a16:creationId xmlns:a16="http://schemas.microsoft.com/office/drawing/2014/main" id="{725F7298-87DA-F7B8-CE2D-B19F986130CA}"/>
              </a:ext>
            </a:extLst>
          </p:cNvPr>
          <p:cNvSpPr txBox="1"/>
          <p:nvPr/>
        </p:nvSpPr>
        <p:spPr>
          <a:xfrm>
            <a:off x="2233644" y="1675745"/>
            <a:ext cx="7419912" cy="4708981"/>
          </a:xfrm>
          <a:prstGeom prst="rect">
            <a:avLst/>
          </a:prstGeom>
          <a:noFill/>
        </p:spPr>
        <p:txBody>
          <a:bodyPr wrap="square">
            <a:spAutoFit/>
          </a:bodyPr>
          <a:lstStyle/>
          <a:p>
            <a:pPr marL="285750" indent="-285750">
              <a:buFont typeface="Arial" panose="020B0604020202020204" pitchFamily="34" charset="0"/>
              <a:buChar char="•"/>
            </a:pPr>
            <a:r>
              <a:rPr lang="en-US" sz="2000" b="1" dirty="0"/>
              <a:t>Cost Savings: </a:t>
            </a:r>
            <a:r>
              <a:rPr lang="en-US" sz="2000" dirty="0"/>
              <a:t>Streamlining waste sorting processes and reducing reliance on manual labor leads to significant cost savings for waste management facilities, offering a compelling financial incentive.</a:t>
            </a:r>
          </a:p>
          <a:p>
            <a:endParaRPr lang="en-US" sz="2000" b="1" dirty="0"/>
          </a:p>
          <a:p>
            <a:pPr marL="285750" indent="-285750">
              <a:buFont typeface="Arial" panose="020B0604020202020204" pitchFamily="34" charset="0"/>
              <a:buChar char="•"/>
            </a:pPr>
            <a:r>
              <a:rPr lang="en-US" sz="2000" b="1" dirty="0"/>
              <a:t>Environmental Impact: </a:t>
            </a:r>
            <a:r>
              <a:rPr lang="en-US" sz="2000" dirty="0"/>
              <a:t>By promoting proper waste segregation and increasing recycling rates, the solution contributes to environmental sustainability by minimizing landfill waste and conserving resources.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Positive Public Perception: </a:t>
            </a:r>
            <a:r>
              <a:rPr lang="en-US" sz="2000" dirty="0"/>
              <a:t>Embracing innovative technology for waste management demonstrates a commitment to environmental stewardship and corporate social responsibility, enhancing the organization's reputation and public perception.</a:t>
            </a:r>
            <a:endParaRPr lang="en-IN" sz="2000" dirty="0"/>
          </a:p>
        </p:txBody>
      </p:sp>
    </p:spTree>
    <p:extLst>
      <p:ext uri="{BB962C8B-B14F-4D97-AF65-F5344CB8AC3E}">
        <p14:creationId xmlns:p14="http://schemas.microsoft.com/office/powerpoint/2010/main" val="1645732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7833362" y="78797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12</a:t>
            </a:fld>
            <a:endParaRPr spc="-25" dirty="0"/>
          </a:p>
        </p:txBody>
      </p:sp>
      <p:sp>
        <p:nvSpPr>
          <p:cNvPr id="8" name="object 8"/>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0" dirty="0"/>
              <a:t>MODELLING</a:t>
            </a:r>
          </a:p>
        </p:txBody>
      </p:sp>
      <p:sp>
        <p:nvSpPr>
          <p:cNvPr id="10" name="TextBox 9">
            <a:extLst>
              <a:ext uri="{FF2B5EF4-FFF2-40B4-BE49-F238E27FC236}">
                <a16:creationId xmlns:a16="http://schemas.microsoft.com/office/drawing/2014/main" id="{9A961E9D-C8F9-BFE1-F9E8-9F5E514B12CF}"/>
              </a:ext>
            </a:extLst>
          </p:cNvPr>
          <p:cNvSpPr txBox="1"/>
          <p:nvPr/>
        </p:nvSpPr>
        <p:spPr>
          <a:xfrm>
            <a:off x="739775" y="1418570"/>
            <a:ext cx="8010525" cy="4616648"/>
          </a:xfrm>
          <a:prstGeom prst="rect">
            <a:avLst/>
          </a:prstGeom>
          <a:noFill/>
        </p:spPr>
        <p:txBody>
          <a:bodyPr wrap="square">
            <a:spAutoFit/>
          </a:bodyPr>
          <a:lstStyle/>
          <a:p>
            <a:r>
              <a:rPr lang="en-US" sz="2100" dirty="0"/>
              <a:t>In the waste classification project using CNNs, the primary modeling technique employed is Convolutional Neural Networks (CNNs). Within the CNN architecture, several key modeling components are typically utilized, including:</a:t>
            </a:r>
          </a:p>
          <a:p>
            <a:endParaRPr lang="en-US" sz="2100" dirty="0"/>
          </a:p>
          <a:p>
            <a:r>
              <a:rPr lang="en-US" sz="2100" b="1" dirty="0"/>
              <a:t>Convolutional Layers: </a:t>
            </a:r>
            <a:r>
              <a:rPr lang="en-US" sz="2100" dirty="0"/>
              <a:t>These layers apply convolution operations to the input images, extracting various features through the use of filters or kernels.</a:t>
            </a:r>
          </a:p>
          <a:p>
            <a:r>
              <a:rPr lang="en-US" sz="2100" b="1" dirty="0"/>
              <a:t>Pooling Layers: </a:t>
            </a:r>
            <a:r>
              <a:rPr lang="en-US" sz="2100" dirty="0"/>
              <a:t>Pooling layers reduce the spatial dimensions of the feature maps generated by the convolutional layers, helping to control overfitting and computational complexity.</a:t>
            </a:r>
          </a:p>
          <a:p>
            <a:r>
              <a:rPr lang="en-US" sz="2100" b="1" dirty="0"/>
              <a:t>Activation Functions: </a:t>
            </a:r>
            <a:r>
              <a:rPr lang="en-US" sz="2100" dirty="0"/>
              <a:t>Activation functions, such as </a:t>
            </a:r>
            <a:r>
              <a:rPr lang="en-US" sz="2100" dirty="0" err="1"/>
              <a:t>ReLU</a:t>
            </a:r>
            <a:r>
              <a:rPr lang="en-US" sz="2100" dirty="0"/>
              <a:t> (Rectified Linear Activation), introduce non-linearity into the model, enabling it to learn complex relationships within the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7833362" y="78797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13</a:t>
            </a:fld>
            <a:endParaRPr spc="-25" dirty="0"/>
          </a:p>
        </p:txBody>
      </p:sp>
      <p:sp>
        <p:nvSpPr>
          <p:cNvPr id="8" name="object 8"/>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0" dirty="0"/>
              <a:t>MODELLING</a:t>
            </a:r>
          </a:p>
        </p:txBody>
      </p:sp>
      <p:sp>
        <p:nvSpPr>
          <p:cNvPr id="10" name="TextBox 9">
            <a:extLst>
              <a:ext uri="{FF2B5EF4-FFF2-40B4-BE49-F238E27FC236}">
                <a16:creationId xmlns:a16="http://schemas.microsoft.com/office/drawing/2014/main" id="{9A961E9D-C8F9-BFE1-F9E8-9F5E514B12CF}"/>
              </a:ext>
            </a:extLst>
          </p:cNvPr>
          <p:cNvSpPr txBox="1"/>
          <p:nvPr/>
        </p:nvSpPr>
        <p:spPr>
          <a:xfrm>
            <a:off x="914400" y="1313899"/>
            <a:ext cx="8010525" cy="4939814"/>
          </a:xfrm>
          <a:prstGeom prst="rect">
            <a:avLst/>
          </a:prstGeom>
          <a:noFill/>
        </p:spPr>
        <p:txBody>
          <a:bodyPr wrap="square">
            <a:spAutoFit/>
          </a:bodyPr>
          <a:lstStyle/>
          <a:p>
            <a:r>
              <a:rPr lang="en-US" sz="2100" b="1" dirty="0"/>
              <a:t>Fully Connected Layers: </a:t>
            </a:r>
            <a:r>
              <a:rPr lang="en-US" sz="2100" dirty="0"/>
              <a:t>These layers connect every neuron in one layer to every neuron in the next layer, helping to capture higher-level features and make final predictions.</a:t>
            </a:r>
          </a:p>
          <a:p>
            <a:endParaRPr lang="en-US" sz="2100" dirty="0"/>
          </a:p>
          <a:p>
            <a:r>
              <a:rPr lang="en-US" sz="2100" b="1" dirty="0"/>
              <a:t>Dropout: </a:t>
            </a:r>
            <a:r>
              <a:rPr lang="en-US" sz="2100" dirty="0"/>
              <a:t>Dropout is a regularization technique used to prevent overfitting by randomly dropping a fraction of neurons during training.</a:t>
            </a:r>
          </a:p>
          <a:p>
            <a:endParaRPr lang="en-US" sz="2100" dirty="0"/>
          </a:p>
          <a:p>
            <a:r>
              <a:rPr lang="en-US" sz="2100" b="1" dirty="0"/>
              <a:t>Batch Normalization: </a:t>
            </a:r>
            <a:r>
              <a:rPr lang="en-US" sz="2100" dirty="0"/>
              <a:t>Batch normalization normalizes the activations of each layer, helping to stabilize and speed up the training process.</a:t>
            </a:r>
          </a:p>
          <a:p>
            <a:endParaRPr lang="en-US" sz="2100" dirty="0"/>
          </a:p>
          <a:p>
            <a:r>
              <a:rPr lang="en-US" sz="2100" b="1" dirty="0"/>
              <a:t>Flatten Layer: </a:t>
            </a:r>
            <a:r>
              <a:rPr lang="en-US" sz="2100" dirty="0"/>
              <a:t>This layer reshapes the output from the previous layers into a one-dimensional vector, preparing it for input into the fully connected layers.</a:t>
            </a:r>
            <a:endParaRPr lang="en-IN" sz="2100" dirty="0"/>
          </a:p>
        </p:txBody>
      </p:sp>
    </p:spTree>
    <p:extLst>
      <p:ext uri="{BB962C8B-B14F-4D97-AF65-F5344CB8AC3E}">
        <p14:creationId xmlns:p14="http://schemas.microsoft.com/office/powerpoint/2010/main" val="2824604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8763000" y="350756"/>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lang="en-IN"/>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prstGeom prst="rect">
            <a:avLst/>
          </a:prstGeom>
        </p:spPr>
        <p:txBody>
          <a:bodyPr vert="horz" wrap="square" lIns="0" tIns="13335" rIns="0" bIns="0" rtlCol="0">
            <a:spAutoFit/>
          </a:bodyPr>
          <a:lstStyle/>
          <a:p>
            <a:pPr marL="209550">
              <a:lnSpc>
                <a:spcPct val="100000"/>
              </a:lnSpc>
              <a:spcBef>
                <a:spcPts val="105"/>
              </a:spcBef>
            </a:pPr>
            <a:r>
              <a:rPr spc="-60" dirty="0"/>
              <a:t>RESULTS</a:t>
            </a: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14</a:t>
            </a:fld>
            <a:endParaRPr spc="-25" dirty="0"/>
          </a:p>
        </p:txBody>
      </p:sp>
      <p:sp>
        <p:nvSpPr>
          <p:cNvPr id="11" name="TextBox 10">
            <a:hlinkClick r:id="rId3"/>
            <a:extLst>
              <a:ext uri="{FF2B5EF4-FFF2-40B4-BE49-F238E27FC236}">
                <a16:creationId xmlns:a16="http://schemas.microsoft.com/office/drawing/2014/main" id="{8CF7EE73-E010-71D5-A0FD-C32400045338}"/>
              </a:ext>
            </a:extLst>
          </p:cNvPr>
          <p:cNvSpPr txBox="1"/>
          <p:nvPr/>
        </p:nvSpPr>
        <p:spPr>
          <a:xfrm>
            <a:off x="1143000" y="5182026"/>
            <a:ext cx="9429750" cy="707886"/>
          </a:xfrm>
          <a:prstGeom prst="rect">
            <a:avLst/>
          </a:prstGeom>
          <a:noFill/>
        </p:spPr>
        <p:txBody>
          <a:bodyPr wrap="square" rtlCol="0">
            <a:spAutoFit/>
          </a:bodyPr>
          <a:lstStyle/>
          <a:p>
            <a:r>
              <a:rPr lang="en-IN" sz="2000" dirty="0">
                <a:hlinkClick r:id="rId4"/>
              </a:rPr>
              <a:t>https://drive.google.com/file/d/1QdC7NkaDx5-hVwoebj2X5JvvM2WijWHw/view?usp=sharing</a:t>
            </a:r>
            <a:endParaRPr lang="en-IN" sz="2000" dirty="0"/>
          </a:p>
        </p:txBody>
      </p:sp>
      <p:sp>
        <p:nvSpPr>
          <p:cNvPr id="13" name="TextBox 12">
            <a:extLst>
              <a:ext uri="{FF2B5EF4-FFF2-40B4-BE49-F238E27FC236}">
                <a16:creationId xmlns:a16="http://schemas.microsoft.com/office/drawing/2014/main" id="{3589CEC8-C99F-F196-CEA0-88554880B71A}"/>
              </a:ext>
            </a:extLst>
          </p:cNvPr>
          <p:cNvSpPr txBox="1"/>
          <p:nvPr/>
        </p:nvSpPr>
        <p:spPr>
          <a:xfrm>
            <a:off x="990600" y="955632"/>
            <a:ext cx="8620125" cy="3477875"/>
          </a:xfrm>
          <a:prstGeom prst="rect">
            <a:avLst/>
          </a:prstGeom>
          <a:noFill/>
        </p:spPr>
        <p:txBody>
          <a:bodyPr wrap="square">
            <a:spAutoFit/>
          </a:bodyPr>
          <a:lstStyle/>
          <a:p>
            <a:pPr marL="285750" indent="-285750">
              <a:buFont typeface="Arial" panose="020B0604020202020204" pitchFamily="34" charset="0"/>
              <a:buChar char="•"/>
            </a:pPr>
            <a:endParaRPr lang="en-US" sz="2000" dirty="0">
              <a:latin typeface="Trebuchet MS" panose="020B0603020202020204" pitchFamily="34" charset="0"/>
            </a:endParaRPr>
          </a:p>
          <a:p>
            <a:pPr marL="285750" indent="-285750">
              <a:buFont typeface="Arial" panose="020B0604020202020204" pitchFamily="34" charset="0"/>
              <a:buChar char="•"/>
            </a:pPr>
            <a:r>
              <a:rPr lang="en-US" sz="2000" dirty="0">
                <a:latin typeface="Trebuchet MS" panose="020B0603020202020204" pitchFamily="34" charset="0"/>
              </a:rPr>
              <a:t>The modeling techniques used in the project include Convolutional Neural Networks (CNNs) for image classification. Components such as convolutional layers, pooling layers, activation functions (e.g., </a:t>
            </a:r>
            <a:r>
              <a:rPr lang="en-US" sz="2000" dirty="0" err="1">
                <a:latin typeface="Trebuchet MS" panose="020B0603020202020204" pitchFamily="34" charset="0"/>
              </a:rPr>
              <a:t>ReLU</a:t>
            </a:r>
            <a:r>
              <a:rPr lang="en-US" sz="2000" dirty="0">
                <a:latin typeface="Trebuchet MS" panose="020B0603020202020204" pitchFamily="34" charset="0"/>
              </a:rPr>
              <a:t>), and fully connected layers are integrated to extract features and make predictions. Additional techniques like dropout and batch normalization are employed to prevent overfitting and stabilize training.</a:t>
            </a:r>
          </a:p>
          <a:p>
            <a:pPr marL="285750" indent="-285750">
              <a:buFont typeface="Arial" panose="020B0604020202020204" pitchFamily="34" charset="0"/>
              <a:buChar char="•"/>
            </a:pPr>
            <a:endParaRPr lang="en-US" sz="2000" dirty="0">
              <a:latin typeface="Trebuchet MS" panose="020B0603020202020204" pitchFamily="34" charset="0"/>
            </a:endParaRPr>
          </a:p>
          <a:p>
            <a:pPr marL="285750" indent="-285750">
              <a:buFont typeface="Arial" panose="020B0604020202020204" pitchFamily="34" charset="0"/>
              <a:buChar char="•"/>
            </a:pPr>
            <a:r>
              <a:rPr lang="en-US" sz="2000" dirty="0">
                <a:latin typeface="Trebuchet MS" panose="020B0603020202020204" pitchFamily="34" charset="0"/>
              </a:rPr>
              <a:t> Overall, these modeling approaches enable accurate classification of waste images into organic and recyclable categories.</a:t>
            </a:r>
          </a:p>
        </p:txBody>
      </p:sp>
      <p:sp>
        <p:nvSpPr>
          <p:cNvPr id="15" name="TextBox 14">
            <a:extLst>
              <a:ext uri="{FF2B5EF4-FFF2-40B4-BE49-F238E27FC236}">
                <a16:creationId xmlns:a16="http://schemas.microsoft.com/office/drawing/2014/main" id="{6B55A033-1D25-7774-4318-7135AC366234}"/>
              </a:ext>
            </a:extLst>
          </p:cNvPr>
          <p:cNvSpPr txBox="1"/>
          <p:nvPr/>
        </p:nvSpPr>
        <p:spPr>
          <a:xfrm>
            <a:off x="728091" y="4691786"/>
            <a:ext cx="6099048" cy="461665"/>
          </a:xfrm>
          <a:prstGeom prst="rect">
            <a:avLst/>
          </a:prstGeom>
          <a:noFill/>
        </p:spPr>
        <p:txBody>
          <a:bodyPr wrap="square">
            <a:spAutoFit/>
          </a:bodyPr>
          <a:lstStyle/>
          <a:p>
            <a:r>
              <a:rPr lang="en-IN" sz="2400" b="1" dirty="0"/>
              <a:t>Demo video 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6FC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322</TotalTime>
  <Words>1020</Words>
  <Application>Microsoft Office PowerPoint</Application>
  <PresentationFormat>Widescreen</PresentationFormat>
  <Paragraphs>93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Trebuchet MS</vt:lpstr>
      <vt:lpstr>Office Theme</vt:lpstr>
      <vt:lpstr>PowerPoint Presentation</vt:lpstr>
      <vt:lpstr>PROJECT TITLE</vt:lpstr>
      <vt:lpstr>AGENDA</vt:lpstr>
      <vt:lpstr>PROBLEM STATEMENT</vt:lpstr>
      <vt:lpstr>PROJECT OVERVIEW</vt:lpstr>
      <vt:lpstr>PROJECT OVERVIEW</vt:lpstr>
      <vt:lpstr>WHO ARE THE END USERS?</vt:lpstr>
      <vt:lpstr>MY SOLUTION AND ITS VALUE PROPOSITION</vt:lpstr>
      <vt:lpstr>MY SOLUTION AND ITS VALUE PROPOSITION</vt:lpstr>
      <vt:lpstr>THE WOW IN MY SOLUTION</vt:lpstr>
      <vt:lpstr>THE WOW IN MY SOLUTION</vt:lpstr>
      <vt:lpstr>MODELLING</vt:lpstr>
      <vt:lpstr>MODELLING</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Suganth SKP</dc:creator>
  <cp:lastModifiedBy>Praveen Kumar</cp:lastModifiedBy>
  <cp:revision>9</cp:revision>
  <dcterms:created xsi:type="dcterms:W3CDTF">2024-04-02T15:31:25Z</dcterms:created>
  <dcterms:modified xsi:type="dcterms:W3CDTF">2024-04-22T17:31:08Z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2024-04-02T00:00:00Z</vt:filetime>
  </property>
</Properties>
</file>